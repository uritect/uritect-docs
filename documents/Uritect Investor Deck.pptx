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Uritect: a Canadian company at the University of Toronto building AI products for the built world. Our flagship is Archibi.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renovation journey is fragmented: imagining, buying and hiring are three different worlds.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Archibi is live on the App Store and Google Play. Design, shop and hire happen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is shipping today in Archibi on iOS and Android.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Archibi design ends with the question 'who can build this?'. Find Pro answers it, and gives us the supply side of a renovation marketplace.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today comes from subscriptions and top-ups. Find Pro is free for professionals while we build supply.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Archibi sits at the very start of this spending: the moment of deciding what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Education and media build audience and trust; the design apps convert it; services and professionals turn designs into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Brightment shows how a free AI concept app can lead directly to a high-value service job. It is live on the App Store and Google 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current downloads, active users and revenue here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team that understands buildings and builds AI: we design for how renovations really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raise amount and use of funds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ar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7527" y="6199632"/>
            <a:ext cx="566928" cy="290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m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4000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URITECT INC.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33832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a photo to a finished space.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4983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F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that lets anyone see a renovation before it begins, then shop it and hire the people to build it.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U.S. Funder &amp; Investor Session · October 21, 2026</a:t>
            </a:r>
            <a:endParaRPr lang="en-US" sz="1200" dirty="0"/>
          </a:p>
        </p:txBody>
      </p:sp>
      <p:pic>
        <p:nvPicPr>
          <p:cNvPr id="7" name="Image 1" descr="img/archibi-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9431" y="5532120"/>
            <a:ext cx="1335024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renovation starts with a guess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362858" cy="3566160"/>
          </a:xfrm>
          <a:prstGeom prst="roundRect">
            <a:avLst>
              <a:gd name="adj" fmla="val 4351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350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0632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 to picture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538728"/>
            <a:ext cx="26313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people cannot see a finished room in an empty one, so big decisions are made on faith.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414418" y="1965960"/>
            <a:ext cx="3362858" cy="3566160"/>
          </a:xfrm>
          <a:prstGeom prst="roundRect">
            <a:avLst>
              <a:gd name="adj" fmla="val 4351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80178" y="2350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780178" y="30632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Scattered steps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780178" y="3538728"/>
            <a:ext cx="26313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Inspiration, furniture and contractors live in different places, with nothing connecting them.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51597" y="1965960"/>
            <a:ext cx="3362858" cy="3566160"/>
          </a:xfrm>
          <a:prstGeom prst="roundRect">
            <a:avLst>
              <a:gd name="adj" fmla="val 4351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7357" y="2350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417357" y="30632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Costly to get wrong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17357" y="3538728"/>
            <a:ext cx="26313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fees, wrong purchases and rework all arrive before anyone sees the result.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40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Archibi: one app from idea to renovation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FE000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359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743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Snap a room, a façade or a garden, choose a style, and see it redesigned in seconds.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rgbClr val="FE000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6850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Shop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40690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Archibi recognises the furniture in a photo and finds similar pieces to buy, with prices and stores.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5029200"/>
            <a:ext cx="502920" cy="502920"/>
          </a:xfrm>
          <a:prstGeom prst="ellipse">
            <a:avLst/>
          </a:prstGeom>
          <a:solidFill>
            <a:srgbClr val="FE000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50109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Hire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5394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 the design with vetted architects, designers and contractors, and contact them in one tap.</a:t>
            </a:r>
            <a:endParaRPr lang="en-US" sz="1500" dirty="0"/>
          </a:p>
        </p:txBody>
      </p:sp>
      <p:pic>
        <p:nvPicPr>
          <p:cNvPr id="16" name="Image 0" descr="img/ab-pro-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PRODUCT 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complete design studio in your pocket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2419274" cy="0"/>
          </a:xfrm>
          <a:prstGeom prst="line">
            <a:avLst/>
          </a:prstGeom>
          <a:noFill/>
          <a:ln w="28575">
            <a:solidFill>
              <a:srgbClr val="1F1F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4231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29000"/>
            <a:ext cx="2419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 tools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40480"/>
            <a:ext cx="24192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Interior, Exterior, Landscape, Sketch to Render, Find Furniture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16554" y="2240280"/>
            <a:ext cx="2419274" cy="0"/>
          </a:xfrm>
          <a:prstGeom prst="line">
            <a:avLst/>
          </a:prstGeom>
          <a:noFill/>
          <a:ln w="28575">
            <a:solidFill>
              <a:srgbClr val="1F1F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16554" y="24231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75+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3516554" y="3429000"/>
            <a:ext cx="2419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 styles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16554" y="3840480"/>
            <a:ext cx="24192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modes: Beautiful for careful updates, Creative for bold change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5868" y="2240280"/>
            <a:ext cx="2419274" cy="0"/>
          </a:xfrm>
          <a:prstGeom prst="line">
            <a:avLst/>
          </a:prstGeom>
          <a:noFill/>
          <a:ln w="28575">
            <a:solidFill>
              <a:srgbClr val="1F1F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55868" y="24231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100+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6255868" y="3429000"/>
            <a:ext cx="2419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furniture stores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55868" y="3840480"/>
            <a:ext cx="24192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Behind the Furniture Finder's shoppable matches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95181" y="2240280"/>
            <a:ext cx="2419274" cy="0"/>
          </a:xfrm>
          <a:prstGeom prst="line">
            <a:avLst/>
          </a:prstGeom>
          <a:noFill/>
          <a:ln w="28575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95181" y="2423160"/>
            <a:ext cx="2419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100+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8995181" y="3429000"/>
            <a:ext cx="2419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curated ideas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995181" y="3840480"/>
            <a:ext cx="24192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the Idea Bank, across interiors, exteriors and gardens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6080760"/>
            <a:ext cx="9539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Plus colour palettes, materials for walls, floors, ceilings, façades and paths, saved projects, favourites, and sign-in with email, Google or Apple.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ab-pro-aut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09160" y="640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TWO-SIDED BY DESIGN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709160" y="960120"/>
            <a:ext cx="6705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 Pro turns designs into real projects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709160" y="2514600"/>
            <a:ext cx="3238348" cy="3611880"/>
          </a:xfrm>
          <a:prstGeom prst="roundRect">
            <a:avLst>
              <a:gd name="adj" fmla="val 4518"/>
            </a:avLst>
          </a:prstGeom>
          <a:solidFill>
            <a:srgbClr val="F5F5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983480" y="2788920"/>
            <a:ext cx="2689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clients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83480" y="3291840"/>
            <a:ext cx="27354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 professionals by section, category and speciality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 their story, tags and project gallery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 favourites and make contact in one tap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176108" y="2514600"/>
            <a:ext cx="3238348" cy="3611880"/>
          </a:xfrm>
          <a:prstGeom prst="roundRect">
            <a:avLst>
              <a:gd name="adj" fmla="val 4518"/>
            </a:avLst>
          </a:prstGeom>
          <a:solidFill>
            <a:srgbClr val="F5F5F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50428" y="2788920"/>
            <a:ext cx="2689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professionals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450428" y="3291840"/>
            <a:ext cx="27354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at pro.archibi.ca with portfolio, CV and documents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profile is reviewed by our team before going live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profile and projects from one dashboard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Freemium subscriptions, built to grow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2487854" cy="3429000"/>
          </a:xfrm>
          <a:prstGeom prst="roundRect">
            <a:avLst>
              <a:gd name="adj" fmla="val 5881"/>
            </a:avLst>
          </a:prstGeom>
          <a:solidFill>
            <a:srgbClr val="FFFFFF"/>
          </a:solidFill>
          <a:ln w="15875">
            <a:solidFill>
              <a:srgbClr val="E6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286000"/>
            <a:ext cx="19392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743200"/>
            <a:ext cx="20306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3474720"/>
            <a:ext cx="19392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welcome renders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4160520"/>
            <a:ext cx="19392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Try every core tool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93694" y="1965960"/>
            <a:ext cx="2487854" cy="3429000"/>
          </a:xfrm>
          <a:prstGeom prst="roundRect">
            <a:avLst>
              <a:gd name="adj" fmla="val 5881"/>
            </a:avLst>
          </a:prstGeom>
          <a:solidFill>
            <a:srgbClr val="FFFFFF"/>
          </a:solidFill>
          <a:ln w="15875">
            <a:solidFill>
              <a:srgbClr val="E6E6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86302" y="2286000"/>
            <a:ext cx="19392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PLUS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86302" y="2743200"/>
            <a:ext cx="20306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$6.99/mo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786302" y="3474720"/>
            <a:ext cx="19392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 renders a month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86302" y="4160520"/>
            <a:ext cx="19392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 $59.99 a year · HD, no watermark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0148" y="1965960"/>
            <a:ext cx="2487854" cy="3429000"/>
          </a:xfrm>
          <a:prstGeom prst="roundRect">
            <a:avLst>
              <a:gd name="adj" fmla="val 5881"/>
            </a:avLst>
          </a:prstGeom>
          <a:solidFill>
            <a:srgbClr val="FFF4F4"/>
          </a:solidFill>
          <a:ln w="28575">
            <a:solidFill>
              <a:srgbClr val="FE000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2756" y="2286000"/>
            <a:ext cx="19392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02756" y="2743200"/>
            <a:ext cx="20306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$29.99/mo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502756" y="3474720"/>
            <a:ext cx="19392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450 renders a month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02756" y="4160520"/>
            <a:ext cx="19392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 $249.99 a year · 4K, commercial rights, priority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926601" y="1965960"/>
            <a:ext cx="2487854" cy="3429000"/>
          </a:xfrm>
          <a:prstGeom prst="roundRect">
            <a:avLst>
              <a:gd name="adj" fmla="val 5881"/>
            </a:avLst>
          </a:prstGeom>
          <a:solidFill>
            <a:srgbClr val="FFFFFF"/>
          </a:solidFill>
          <a:ln w="15875">
            <a:solidFill>
              <a:srgbClr val="E6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19209" y="2286000"/>
            <a:ext cx="19392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219209" y="2743200"/>
            <a:ext cx="20306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219209" y="3474720"/>
            <a:ext cx="19392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Shared render pools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19209" y="4160520"/>
            <a:ext cx="19392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Teams, seats, custom styles, integrations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6080760"/>
            <a:ext cx="9539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Plus render top-up packs, sold through the App Store, Google Play and card. Prices as published on archibi.ca/pricing.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market that renovates every day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2860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$519B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Projected annual U.S. homeowner spending on improvements and repairs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846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Harvard Joint Center for Housing Studies, Leading Indicator of Remodeling Activity, July 2026 release.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75120" y="1417320"/>
            <a:ext cx="4739335" cy="4206240"/>
          </a:xfrm>
          <a:prstGeom prst="roundRect">
            <a:avLst>
              <a:gd name="adj" fmla="val 3478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86600" y="178308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Archibi serves</a:t>
            </a:r>
            <a:endParaRPr lang="en-US" sz="1900" dirty="0"/>
          </a:p>
        </p:txBody>
      </p:sp>
      <p:pic>
        <p:nvPicPr>
          <p:cNvPr id="9" name="Image 0" descr="img/t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450592"/>
            <a:ext cx="219456" cy="19751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498080" y="2377440"/>
            <a:ext cx="3504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Homeowners and renters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086600" y="2889504"/>
            <a:ext cx="3916375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pic>
        <p:nvPicPr>
          <p:cNvPr id="12" name="Image 1" descr="img/t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054096"/>
            <a:ext cx="219456" cy="19751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98080" y="2980944"/>
            <a:ext cx="3504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estate professionals preparing listings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086600" y="3493008"/>
            <a:ext cx="3916375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pic>
        <p:nvPicPr>
          <p:cNvPr id="15" name="Image 2" descr="img/tr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657600"/>
            <a:ext cx="219456" cy="19751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98080" y="3584448"/>
            <a:ext cx="3504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Interior designers and architects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7086600" y="4096512"/>
            <a:ext cx="3916375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pic>
        <p:nvPicPr>
          <p:cNvPr id="18" name="Image 3" descr="img/tr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4261104"/>
            <a:ext cx="219456" cy="19751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498080" y="4187952"/>
            <a:ext cx="3504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Contractors looking for qualified clients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7086600" y="4700016"/>
            <a:ext cx="3916375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pic>
        <p:nvPicPr>
          <p:cNvPr id="21" name="Image 4" descr="img/tr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4864608"/>
            <a:ext cx="219456" cy="19751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498080" y="4791456"/>
            <a:ext cx="3504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and architecture students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URITECT ECOSYSTEM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Many front doors, one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2508428" cy="1965960"/>
          </a:xfrm>
          <a:prstGeom prst="roundRect">
            <a:avLst>
              <a:gd name="adj" fmla="val 7442"/>
            </a:avLst>
          </a:prstGeom>
          <a:solidFill>
            <a:srgbClr val="FE000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24128" y="2148840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FLAGSHIP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450592"/>
            <a:ext cx="2051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Archibi AI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880360"/>
            <a:ext cx="2051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Design, shop and hire from a photo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86836" y="1920240"/>
            <a:ext cx="250842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5875">
            <a:solidFill>
              <a:srgbClr val="E6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33724" y="2148840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33724" y="2450592"/>
            <a:ext cx="2051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Archibi Find Pro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733724" y="2880360"/>
            <a:ext cx="2051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Profiles for architects, designers, contractors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96432" y="1920240"/>
            <a:ext cx="250842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5875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3320" y="2148840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43320" y="2450592"/>
            <a:ext cx="2051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Brightment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3320" y="2880360"/>
            <a:ext cx="2051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concepts and installed basement egress windows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06027" y="1920240"/>
            <a:ext cx="250842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5875">
            <a:solidFill>
              <a:srgbClr val="E6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52915" y="2148840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3D DESIGN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52915" y="2450592"/>
            <a:ext cx="2051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Utect 3D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52915" y="2880360"/>
            <a:ext cx="2051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Homes and rooms in the browser (Alpha)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7240" y="4087368"/>
            <a:ext cx="250842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5875">
            <a:solidFill>
              <a:srgbClr val="E6E6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4128" y="4315968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WELLBEING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617720"/>
            <a:ext cx="2051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Blink20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5047488"/>
            <a:ext cx="2051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 20-20-20 eye breaks on 5 platforms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486836" y="4087368"/>
            <a:ext cx="250842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5875">
            <a:solidFill>
              <a:srgbClr val="E6E6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33724" y="4315968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733724" y="4617720"/>
            <a:ext cx="2051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 School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733724" y="5047488"/>
            <a:ext cx="2051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 design workshops for women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96432" y="4087368"/>
            <a:ext cx="250842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5875">
            <a:solidFill>
              <a:srgbClr val="E6E6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3320" y="4315968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43320" y="4617720"/>
            <a:ext cx="2051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ArchNews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443320" y="5047488"/>
            <a:ext cx="2051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and construction stories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906027" y="4087368"/>
            <a:ext cx="250842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5875">
            <a:solidFill>
              <a:srgbClr val="E6E6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52915" y="4315968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152915" y="4617720"/>
            <a:ext cx="2051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CanadaTechNews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9152915" y="5047488"/>
            <a:ext cx="2051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Canada's technology ecosystem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40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PROOF OF THE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Brightment: from AI concept to paid installation</a:t>
            </a:r>
            <a:endParaRPr lang="en-US" sz="3200" dirty="0"/>
          </a:p>
        </p:txBody>
      </p:sp>
      <p:pic>
        <p:nvPicPr>
          <p:cNvPr id="4" name="Image 0" descr="img/t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50592"/>
            <a:ext cx="256032" cy="23042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2377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 it first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276148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Photograph a basement window and see a realistic egress window, window well and landscaping.</a:t>
            </a:r>
            <a:endParaRPr lang="en-US" sz="1500" dirty="0"/>
          </a:p>
        </p:txBody>
      </p:sp>
      <p:pic>
        <p:nvPicPr>
          <p:cNvPr id="7" name="Image 1" descr="img/t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730752"/>
            <a:ext cx="256032" cy="23042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3657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team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404164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Design, permits, excavation and installation, most finished in a single day.</a:t>
            </a:r>
            <a:endParaRPr lang="en-US" sz="1500" dirty="0"/>
          </a:p>
        </p:txBody>
      </p:sp>
      <p:pic>
        <p:nvPicPr>
          <p:cNvPr id="10" name="Image 2" descr="img/tr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010912"/>
            <a:ext cx="256032" cy="23042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4937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Easy to say yes</a:t>
            </a:r>
            <a:endParaRPr lang="en-US" sz="1900" dirty="0"/>
          </a:p>
        </p:txBody>
      </p:sp>
      <p:sp>
        <p:nvSpPr>
          <p:cNvPr id="12" name="Text 7"/>
          <p:cNvSpPr txBox="1"/>
          <p:nvPr/>
        </p:nvSpPr>
        <p:spPr>
          <a:xfrm>
            <a:off x="1234440" y="532180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$0 down with monthly instalments through a financing partner, subject to approval.</a:t>
            </a:r>
            <a:endParaRPr lang="en-US" sz="1500" dirty="0"/>
          </a:p>
        </p:txBody>
      </p:sp>
      <p:pic>
        <p:nvPicPr>
          <p:cNvPr id="13" name="Image 3" descr="img/bm-service-interior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03720" y="0"/>
            <a:ext cx="5287975" cy="3374136"/>
          </a:xfrm>
          <a:prstGeom prst="rect">
            <a:avLst/>
          </a:prstGeom>
        </p:spPr>
      </p:pic>
      <p:pic>
        <p:nvPicPr>
          <p:cNvPr id="14" name="Image 4" descr="img/bm-service-exterior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03720" y="3483864"/>
            <a:ext cx="5287975" cy="33741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Built, shipped and growing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202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73352" y="2107692"/>
            <a:ext cx="128016" cy="128016"/>
          </a:xfrm>
          <a:prstGeom prst="ellipse">
            <a:avLst/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1920240"/>
            <a:ext cx="9448495" cy="502920"/>
          </a:xfrm>
          <a:prstGeom prst="roundRect">
            <a:avLst>
              <a:gd name="adj" fmla="val 29091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94560" y="1920240"/>
            <a:ext cx="8991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1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Opened our Richmond Hill office; took part in CIX 2024 and DiscoveryX 2024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673352" y="2747772"/>
            <a:ext cx="128016" cy="128016"/>
          </a:xfrm>
          <a:prstGeom prst="ellipse">
            <a:avLst/>
          </a:prstGeom>
          <a:solidFill>
            <a:srgbClr val="1F1F1F"/>
          </a:solidFill>
          <a:ln/>
        </p:spPr>
      </p:sp>
      <p:sp>
        <p:nvSpPr>
          <p:cNvPr id="10" name="Shape 8"/>
          <p:cNvSpPr/>
          <p:nvPr/>
        </p:nvSpPr>
        <p:spPr>
          <a:xfrm>
            <a:off x="1965960" y="2560320"/>
            <a:ext cx="9448495" cy="502920"/>
          </a:xfrm>
          <a:prstGeom prst="roundRect">
            <a:avLst>
              <a:gd name="adj" fmla="val 29091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94560" y="2560320"/>
            <a:ext cx="8991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1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Joined U of T's innovation hub at the Schwartz Reisman Innovation Campus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200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673352" y="3387852"/>
            <a:ext cx="128016" cy="128016"/>
          </a:xfrm>
          <a:prstGeom prst="ellipse">
            <a:avLst/>
          </a:prstGeom>
          <a:solidFill>
            <a:srgbClr val="1F1F1F"/>
          </a:solidFill>
          <a:ln/>
        </p:spPr>
      </p:sp>
      <p:sp>
        <p:nvSpPr>
          <p:cNvPr id="14" name="Shape 12"/>
          <p:cNvSpPr/>
          <p:nvPr/>
        </p:nvSpPr>
        <p:spPr>
          <a:xfrm>
            <a:off x="1965960" y="3200400"/>
            <a:ext cx="9448495" cy="502920"/>
          </a:xfrm>
          <a:prstGeom prst="roundRect">
            <a:avLst>
              <a:gd name="adj" fmla="val 29091"/>
            </a:avLst>
          </a:prstGeom>
          <a:solidFill>
            <a:srgbClr val="F5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194560" y="3200400"/>
            <a:ext cx="8991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1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Archibi AI live on the App Store and Google Play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840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673352" y="4027932"/>
            <a:ext cx="128016" cy="128016"/>
          </a:xfrm>
          <a:prstGeom prst="ellipse">
            <a:avLst/>
          </a:prstGeom>
          <a:solidFill>
            <a:srgbClr val="1F1F1F"/>
          </a:solidFill>
          <a:ln/>
        </p:spPr>
      </p:sp>
      <p:sp>
        <p:nvSpPr>
          <p:cNvPr id="18" name="Shape 16"/>
          <p:cNvSpPr/>
          <p:nvPr/>
        </p:nvSpPr>
        <p:spPr>
          <a:xfrm>
            <a:off x="1965960" y="3840480"/>
            <a:ext cx="9448495" cy="502920"/>
          </a:xfrm>
          <a:prstGeom prst="roundRect">
            <a:avLst>
              <a:gd name="adj" fmla="val 29091"/>
            </a:avLst>
          </a:prstGeom>
          <a:solidFill>
            <a:srgbClr val="F5F5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194560" y="3840480"/>
            <a:ext cx="8991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1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Pro professionals portal live at pro.archibi.ca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4805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73352" y="4668012"/>
            <a:ext cx="128016" cy="128016"/>
          </a:xfrm>
          <a:prstGeom prst="ellipse">
            <a:avLst/>
          </a:prstGeom>
          <a:solidFill>
            <a:srgbClr val="1F1F1F"/>
          </a:solidFill>
          <a:ln/>
        </p:spPr>
      </p:sp>
      <p:sp>
        <p:nvSpPr>
          <p:cNvPr id="22" name="Shape 20"/>
          <p:cNvSpPr/>
          <p:nvPr/>
        </p:nvSpPr>
        <p:spPr>
          <a:xfrm>
            <a:off x="1965960" y="4480560"/>
            <a:ext cx="9448495" cy="502920"/>
          </a:xfrm>
          <a:prstGeom prst="roundRect">
            <a:avLst>
              <a:gd name="adj" fmla="val 29091"/>
            </a:avLst>
          </a:prstGeom>
          <a:solidFill>
            <a:srgbClr val="F5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194560" y="4480560"/>
            <a:ext cx="8991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1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Brightment app live on iOS and Android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1206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673352" y="5308092"/>
            <a:ext cx="128016" cy="128016"/>
          </a:xfrm>
          <a:prstGeom prst="ellipse">
            <a:avLst/>
          </a:prstGeom>
          <a:solidFill>
            <a:srgbClr val="1F1F1F"/>
          </a:solidFill>
          <a:ln/>
        </p:spPr>
      </p:sp>
      <p:sp>
        <p:nvSpPr>
          <p:cNvPr id="26" name="Shape 24"/>
          <p:cNvSpPr/>
          <p:nvPr/>
        </p:nvSpPr>
        <p:spPr>
          <a:xfrm>
            <a:off x="1965960" y="5120640"/>
            <a:ext cx="9448495" cy="502920"/>
          </a:xfrm>
          <a:prstGeom prst="roundRect">
            <a:avLst>
              <a:gd name="adj" fmla="val 29091"/>
            </a:avLst>
          </a:prstGeom>
          <a:solidFill>
            <a:srgbClr val="F5F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194560" y="5120640"/>
            <a:ext cx="8991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1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Blink20 live on iOS, Android, macOS, Windows and Linux, in 21 languages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Architecture and AI under one roof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640080" cy="640080"/>
          </a:xfrm>
          <a:prstGeom prst="ellipse">
            <a:avLst/>
          </a:prstGeom>
          <a:solidFill>
            <a:srgbClr val="FE000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HZ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28800"/>
            <a:ext cx="17334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Hamidreza Zandi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CEO &amp; Founder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16554" y="2103120"/>
            <a:ext cx="640080" cy="640080"/>
          </a:xfrm>
          <a:prstGeom prst="ellipse">
            <a:avLst/>
          </a:prstGeom>
          <a:solidFill>
            <a:srgbClr val="FE000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1655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93794" y="1828800"/>
            <a:ext cx="17334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Masoumeh Shoar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 &amp; Co-Founder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5868" y="2103120"/>
            <a:ext cx="640080" cy="640080"/>
          </a:xfrm>
          <a:prstGeom prst="ellipse">
            <a:avLst/>
          </a:prstGeom>
          <a:solidFill>
            <a:srgbClr val="FE000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5586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SZ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33108" y="1828800"/>
            <a:ext cx="17334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Dr. Shahla Zandi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CPO · product, design and marketing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995181" y="2103120"/>
            <a:ext cx="640080" cy="640080"/>
          </a:xfrm>
          <a:prstGeom prst="ellipse">
            <a:avLst/>
          </a:prstGeom>
          <a:solidFill>
            <a:srgbClr val="FE000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95181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AZ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772421" y="1828800"/>
            <a:ext cx="17334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Abtin Zandi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CTO · development and AI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3703320"/>
            <a:ext cx="640080" cy="640080"/>
          </a:xfrm>
          <a:prstGeom prst="ellipse">
            <a:avLst/>
          </a:prstGeom>
          <a:solidFill>
            <a:srgbClr val="F5F5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429000"/>
            <a:ext cx="17334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Mouhamad Mouhamad Hoseini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Back-end Developer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516554" y="3703320"/>
            <a:ext cx="640080" cy="640080"/>
          </a:xfrm>
          <a:prstGeom prst="ellipse">
            <a:avLst/>
          </a:prstGeom>
          <a:solidFill>
            <a:srgbClr val="F5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16554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293794" y="3429000"/>
            <a:ext cx="17334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Sarvin Nami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Android Developer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55868" y="3703320"/>
            <a:ext cx="640080" cy="640080"/>
          </a:xfrm>
          <a:prstGeom prst="ellipse">
            <a:avLst/>
          </a:prstGeom>
          <a:solidFill>
            <a:srgbClr val="F5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55868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AZ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33108" y="3429000"/>
            <a:ext cx="17334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Alireza Zare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Front-end Developer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995181" y="3703320"/>
            <a:ext cx="640080" cy="640080"/>
          </a:xfrm>
          <a:prstGeom prst="ellipse">
            <a:avLst/>
          </a:prstGeom>
          <a:solidFill>
            <a:srgbClr val="F5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95181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AH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772421" y="3429000"/>
            <a:ext cx="17334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Arshia Hashemianzadeh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Developer (Intern)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6080760"/>
            <a:ext cx="9539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Women hold founding and key roles. Supported by Pycap Inc. and U of T Entrepreneurship.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m-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7144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210312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ASK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242316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Partner with us to bring Archibi to the U.S.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77240" y="3337560"/>
            <a:ext cx="3362858" cy="2514600"/>
          </a:xfrm>
          <a:prstGeom prst="roundRect">
            <a:avLst>
              <a:gd name="adj" fmla="val 5818"/>
            </a:avLst>
          </a:prstGeom>
          <a:solidFill>
            <a:srgbClr val="1E1E1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43000" y="36850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4343400"/>
            <a:ext cx="2631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Capital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4754880"/>
            <a:ext cx="2631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DBD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grow Archibi's U.S. user base and scale the AI that powers 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14418" y="3337560"/>
            <a:ext cx="3362858" cy="2514600"/>
          </a:xfrm>
          <a:prstGeom prst="roundRect">
            <a:avLst>
              <a:gd name="adj" fmla="val 5818"/>
            </a:avLst>
          </a:prstGeom>
          <a:solidFill>
            <a:srgbClr val="1E1E1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80178" y="36850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780178" y="4343400"/>
            <a:ext cx="2631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Partners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780178" y="4754880"/>
            <a:ext cx="2631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DBD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 retailers, real estate and building brands to plug into Design, Shop and Hire.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51597" y="3337560"/>
            <a:ext cx="3362858" cy="2514600"/>
          </a:xfrm>
          <a:prstGeom prst="roundRect">
            <a:avLst>
              <a:gd name="adj" fmla="val 5818"/>
            </a:avLst>
          </a:prstGeom>
          <a:solidFill>
            <a:srgbClr val="1E1E1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417357" y="36850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E000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8417357" y="4343400"/>
            <a:ext cx="2631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417357" y="4754880"/>
            <a:ext cx="2631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DBD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Introductions to U.S. architects, designers and contractors for Find Pro.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m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img/archibi-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1426464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77240" y="2331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FCF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Let's design the future of the built world together.</a:t>
            </a:r>
            <a:endParaRPr lang="en-US" sz="19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4206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DBD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Uritect Inc. · uritect.com · archibi.ca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DBD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University of Toronto, Schwartz Reisman Innovation Campus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DBD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108 College St., Suite W754, Toronto, ON, Canada · (437) 800-0845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Uritect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Uritect Investor Deck</dc:title>
  <dc:subject>PptxGenJS Presentation</dc:subject>
  <dc:creator>PptxGenJS</dc:creator>
  <cp:lastModifiedBy>PptxGenJS</cp:lastModifiedBy>
  <cp:revision>1</cp:revision>
  <dcterms:created xsi:type="dcterms:W3CDTF">2026-10-19T15:37:36Z</dcterms:created>
  <dcterms:modified xsi:type="dcterms:W3CDTF">2026-10-19T15:37:36Z</dcterms:modified>
</cp:coreProperties>
</file>